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6600" b="1">
                <a:solidFill>
                  <a:srgbClr val="F4F8FB"/>
                </a:solidFill>
                <a:latin typeface="Calibri Light"/>
              </a:rPr>
              <a:t>HAVENBROOK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5FB8D8"/>
                </a:solidFill>
                <a:latin typeface="Calibri"/>
              </a:rPr>
              <a:t>A COMMUNITY PLANNED AROUND 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8E4EE"/>
                </a:solidFill>
                <a:latin typeface="Calibri"/>
              </a:rPr>
              <a:t>Our Town Healthcare System Project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E8C87A"/>
                </a:solidFill>
                <a:latin typeface="Calibri"/>
              </a:rPr>
              <a:t>[ GROUP MEMBERS — ADD NAMES ]   ·   [ CLASS / PERIOD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5F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FB8D8"/>
                </a:solidFill>
                <a:latin typeface="Calibri"/>
              </a:rPr>
              <a:t>CONTENT 1 OF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4F8FB"/>
                </a:solidFill>
                <a:latin typeface="Calibri"/>
              </a:rPr>
              <a:t>Town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274320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8C87A"/>
                </a:solidFill>
                <a:latin typeface="Calibri"/>
              </a:rPr>
              <a:t>HAVENBROOK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5852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5FB8D8"/>
                </a:solidFill>
              </a:rPr>
              <a:t>▪ </a:t>
            </a:r>
            <a:r>
              <a:rPr sz="1600" b="1">
                <a:solidFill>
                  <a:srgbClr val="1B2A3A"/>
                </a:solidFill>
              </a:rPr>
              <a:t>Havenbrook</a:t>
            </a:r>
            <a:r>
              <a:rPr sz="1600" b="0">
                <a:solidFill>
                  <a:srgbClr val="1B2A3A"/>
                </a:solidFill>
              </a:rPr>
              <a:t> is a growing town designed around a medical university — every district is planned so care is never more than a few minutes away.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5FB8D8"/>
                </a:solidFill>
              </a:rPr>
              <a:t>▪ </a:t>
            </a:r>
            <a:r>
              <a:rPr sz="1600" b="0">
                <a:solidFill>
                  <a:srgbClr val="1B2A3A"/>
                </a:solidFill>
              </a:rPr>
              <a:t>The town is zoned into six districts:</a:t>
            </a:r>
            <a:r>
              <a:rPr sz="1600" b="0">
                <a:solidFill>
                  <a:srgbClr val="1B2A3A"/>
                </a:solidFill>
              </a:rPr>
              <a:t> University (NW), Medical (N), Senior (E), Downtown (center), Residential (W), and Commercial (S) — each built around the people who use it most.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5FB8D8"/>
                </a:solidFill>
              </a:rPr>
              <a:t>▪ </a:t>
            </a:r>
            <a:r>
              <a:rPr sz="1600" b="1">
                <a:solidFill>
                  <a:srgbClr val="1B2A3A"/>
                </a:solidFill>
              </a:rPr>
              <a:t>13 healthcare facilities</a:t>
            </a:r>
            <a:r>
              <a:rPr sz="1600" b="0">
                <a:solidFill>
                  <a:srgbClr val="1B2A3A"/>
                </a:solidFill>
              </a:rPr>
              <a:t> and </a:t>
            </a:r>
            <a:r>
              <a:rPr sz="1600" b="1">
                <a:solidFill>
                  <a:srgbClr val="1B2A3A"/>
                </a:solidFill>
              </a:rPr>
              <a:t>11 community locations</a:t>
            </a:r>
            <a:r>
              <a:rPr sz="1600" b="0">
                <a:solidFill>
                  <a:srgbClr val="1B2A3A"/>
                </a:solidFill>
              </a:rPr>
              <a:t> are placed on a legible street grid: four arterials carry the load while residential streets stay quiet.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5FB8D8"/>
                </a:solidFill>
              </a:rPr>
              <a:t>▪ </a:t>
            </a:r>
            <a:r>
              <a:rPr sz="1600" b="1">
                <a:solidFill>
                  <a:srgbClr val="1B2A3A"/>
                </a:solidFill>
              </a:rPr>
              <a:t>Every one of the 27 sites has a unique name</a:t>
            </a:r>
            <a:r>
              <a:rPr sz="1600" b="0">
                <a:solidFill>
                  <a:srgbClr val="1B2A3A"/>
                </a:solidFill>
              </a:rPr>
              <a:t> — from Havenbrook General Hospital to The Daily Grind Coffeehouse.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5FB8D8"/>
                </a:solidFill>
              </a:rPr>
              <a:t>▪ </a:t>
            </a:r>
            <a:r>
              <a:rPr sz="1600" b="0">
                <a:solidFill>
                  <a:srgbClr val="1B2A3A"/>
                </a:solidFill>
              </a:rPr>
              <a:t>Total build cost: </a:t>
            </a:r>
            <a:r>
              <a:rPr sz="1600" b="1">
                <a:solidFill>
                  <a:srgbClr val="6EC08A"/>
                </a:solidFill>
              </a:rPr>
              <a:t>$9,950,000 of $10,000,000</a:t>
            </a:r>
            <a:r>
              <a:rPr sz="1600" b="0">
                <a:solidFill>
                  <a:srgbClr val="1B2A3A"/>
                </a:solidFill>
              </a:rPr>
              <a:t> — the entire town is fully explorable in 3D, day or night.</a:t>
            </a:r>
          </a:p>
        </p:txBody>
      </p:sp>
      <p:pic>
        <p:nvPicPr>
          <p:cNvPr id="9" name="Picture 8" descr="ae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325880"/>
            <a:ext cx="5257800" cy="29575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37960" y="4434840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AACBC"/>
                </a:solidFill>
                <a:latin typeface="Calibri"/>
              </a:rPr>
              <a:t>Aerial view of Havenbrook — numbered facilities, named streets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5F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FB8D8"/>
                </a:solidFill>
                <a:latin typeface="Calibri"/>
              </a:rPr>
              <a:t>CONTENT 2 OF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4F8FB"/>
                </a:solidFill>
                <a:latin typeface="Calibri"/>
              </a:rPr>
              <a:t>Population &amp; Demographics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274320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8C87A"/>
                </a:solidFill>
                <a:latin typeface="Calibri"/>
              </a:rPr>
              <a:t>HAVENBROOK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1920240" cy="1572768"/>
          </a:xfrm>
          <a:prstGeom prst="rect">
            <a:avLst/>
          </a:prstGeom>
          <a:solidFill>
            <a:srgbClr val="5F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36192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0E1A2B"/>
                </a:solidFill>
                <a:latin typeface="Calibri"/>
              </a:rPr>
              <a:t>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04288"/>
            <a:ext cx="1920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E1A2B"/>
                </a:solidFill>
                <a:latin typeface="Calibri"/>
              </a:rPr>
              <a:t>COLLEGE STUDENTS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371600"/>
            <a:ext cx="9052560" cy="1572768"/>
          </a:xfrm>
          <a:prstGeom prst="rect">
            <a:avLst/>
          </a:prstGeom>
          <a:solidFill>
            <a:srgbClr val="F4F8FB"/>
          </a:solidFill>
          <a:ln w="12700">
            <a:solidFill>
              <a:srgbClr val="D6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517904"/>
            <a:ext cx="8595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Havenbrook University School of Medicine anchors the NW quadrant. Students get CampusCare Clinic, Mindwell Behavioral Health, The Daily Grind, Fiesta Express and the mall — all on foot.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54680"/>
            <a:ext cx="1920240" cy="1572768"/>
          </a:xfrm>
          <a:prstGeom prst="rect">
            <a:avLst/>
          </a:prstGeom>
          <a:solidFill>
            <a:srgbClr val="6E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19272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0E1A2B"/>
                </a:solidFill>
                <a:latin typeface="Calibri"/>
              </a:rPr>
              <a:t>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087368"/>
            <a:ext cx="1920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E1A2B"/>
                </a:solidFill>
                <a:latin typeface="Calibri"/>
              </a:rPr>
              <a:t>ADULTS WITH FAMILIES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40" y="3154680"/>
            <a:ext cx="9052560" cy="1572768"/>
          </a:xfrm>
          <a:prstGeom prst="rect">
            <a:avLst/>
          </a:prstGeom>
          <a:solidFill>
            <a:srgbClr val="F4F8FB"/>
          </a:solidFill>
          <a:ln w="12700">
            <a:solidFill>
              <a:srgbClr val="D6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3300984"/>
            <a:ext cx="8595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The Preserve housing development sits between the K-12 school and Willow Creek Park. FamilyFirst pediatrics, grocery and dental line their daily routes.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937760"/>
            <a:ext cx="1920240" cy="1572768"/>
          </a:xfrm>
          <a:prstGeom prst="rect">
            <a:avLst/>
          </a:prstGeom>
          <a:solidFill>
            <a:srgbClr val="E8C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102352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0E1A2B"/>
                </a:solidFill>
                <a:latin typeface="Calibri"/>
              </a:rP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870448"/>
            <a:ext cx="1920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E1A2B"/>
                </a:solidFill>
                <a:latin typeface="Calibri"/>
              </a:rPr>
              <a:t>ADULTS OVER 65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40" y="4937760"/>
            <a:ext cx="9052560" cy="1572768"/>
          </a:xfrm>
          <a:prstGeom prst="rect">
            <a:avLst/>
          </a:prstGeom>
          <a:solidFill>
            <a:srgbClr val="F4F8FB"/>
          </a:solidFill>
          <a:ln w="12700">
            <a:solidFill>
              <a:srgbClr val="D6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5084064"/>
            <a:ext cx="8595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Silver Oaks Senior Living and Tranquil Harbor Hospice form a quiet east-side senior district beside the park — with ComfortCare home health on call.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5F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FB8D8"/>
                </a:solidFill>
                <a:latin typeface="Calibri"/>
              </a:rPr>
              <a:t>CONTENT 3 OF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4F8FB"/>
                </a:solidFill>
                <a:latin typeface="Calibri"/>
              </a:rPr>
              <a:t>Digital Town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274320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8C87A"/>
                </a:solidFill>
                <a:latin typeface="Calibri"/>
              </a:rPr>
              <a:t>HAVENBROOK</a:t>
            </a:r>
          </a:p>
        </p:txBody>
      </p:sp>
      <p:pic>
        <p:nvPicPr>
          <p:cNvPr id="8" name="Picture 7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201400" cy="63007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473952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AACBC"/>
                </a:solidFill>
                <a:latin typeface="Calibri"/>
              </a:rPr>
              <a:t>Flat map of Havenbrook — every facility numbered and named, all 18 streets labeled, district names shown. Numbers match the budget sheet.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5F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FB8D8"/>
                </a:solidFill>
                <a:latin typeface="Calibri"/>
              </a:rPr>
              <a:t>CONTENT 4 OF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4F8FB"/>
                </a:solidFill>
                <a:latin typeface="Calibri"/>
              </a:rPr>
              <a:t>Layout — Medical Core &amp; Downtown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274320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8C87A"/>
                </a:solidFill>
                <a:latin typeface="Calibri"/>
              </a:rPr>
              <a:t>HAVENBROOK</a:t>
            </a:r>
          </a:p>
        </p:txBody>
      </p:sp>
      <p:pic>
        <p:nvPicPr>
          <p:cNvPr id="8" name="Picture 7" descr="med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5577840" cy="3137535"/>
          </a:xfrm>
          <a:prstGeom prst="rect">
            <a:avLst/>
          </a:prstGeom>
        </p:spPr>
      </p:pic>
      <p:pic>
        <p:nvPicPr>
          <p:cNvPr id="9" name="Picture 8" descr="downt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80160"/>
            <a:ext cx="5577840" cy="313753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4572000"/>
            <a:ext cx="5577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B2A3A"/>
                </a:solidFill>
                <a:latin typeface="Calibri"/>
              </a:rPr>
              <a:t>Medical District (N): </a:t>
            </a:r>
            <a:r>
              <a:rPr sz="1400" b="0">
                <a:solidFill>
                  <a:srgbClr val="1B2A3A"/>
                </a:solidFill>
                <a:latin typeface="Calibri"/>
              </a:rPr>
              <a:t>General Hospital (#3), Rehab (#7), Lab (#6) and EMS (#4) cluster on Wellness Way — the care spine.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4572000"/>
            <a:ext cx="5577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B2A3A"/>
                </a:solidFill>
                <a:latin typeface="Calibri"/>
              </a:rPr>
              <a:t>Downtown &amp; University (center/NW): </a:t>
            </a:r>
            <a:r>
              <a:rPr sz="1400" b="0">
                <a:solidFill>
                  <a:srgbClr val="1B2A3A"/>
                </a:solidFill>
                <a:latin typeface="Calibri"/>
              </a:rPr>
              <a:t>medical school (#1) on Campus Dr; civic row, museum (#19) and post office (#23) on Wellness Way.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5F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FB8D8"/>
                </a:solidFill>
                <a:latin typeface="Calibri"/>
              </a:rPr>
              <a:t>CONTENT 5 OF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4F8FB"/>
                </a:solidFill>
                <a:latin typeface="Calibri"/>
              </a:rPr>
              <a:t>The Medical College — FREE (Required)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274320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8C87A"/>
                </a:solidFill>
                <a:latin typeface="Calibri"/>
              </a:rPr>
              <a:t>HAVENBROOK</a:t>
            </a:r>
          </a:p>
        </p:txBody>
      </p:sp>
      <p:pic>
        <p:nvPicPr>
          <p:cNvPr id="8" name="Picture 7" descr="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7223760" cy="40633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0100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5FB8D8"/>
                </a:solidFill>
              </a:rPr>
              <a:t>▪ </a:t>
            </a:r>
            <a:r>
              <a:rPr sz="1700" b="1">
                <a:solidFill>
                  <a:srgbClr val="1B2A3A"/>
                </a:solidFill>
              </a:rPr>
              <a:t>Havenbrook University School of Medicine</a:t>
            </a:r>
            <a:r>
              <a:rPr sz="1400" b="0">
                <a:solidFill>
                  <a:srgbClr val="1B2A3A"/>
                </a:solidFill>
              </a:rPr>
              <a:t> — site #1 on the map.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5FB8D8"/>
                </a:solidFill>
              </a:rPr>
              <a:t>▪ </a:t>
            </a:r>
            <a:r>
              <a:rPr sz="1400" b="0">
                <a:solidFill>
                  <a:srgbClr val="1B2A3A"/>
                </a:solidFill>
              </a:rPr>
              <a:t>The town’s signature landmark: </a:t>
            </a:r>
            <a:r>
              <a:rPr sz="1400" b="0">
                <a:solidFill>
                  <a:srgbClr val="1B2A3A"/>
                </a:solidFill>
              </a:rPr>
              <a:t>a 124 m × 52 m main hall with a domed clock tower, 7-column entry colonnade and twin end pavilions.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5FB8D8"/>
                </a:solidFill>
              </a:rPr>
              <a:t>▪ </a:t>
            </a:r>
            <a:r>
              <a:rPr sz="1400" b="1">
                <a:solidFill>
                  <a:srgbClr val="1B2A3A"/>
                </a:solidFill>
              </a:rPr>
              <a:t>Full campus quad</a:t>
            </a:r>
            <a:r>
              <a:rPr sz="1400" b="0">
                <a:solidFill>
                  <a:srgbClr val="1B2A3A"/>
                </a:solidFill>
              </a:rPr>
              <a:t> — obelisk monument, flag court and paths linking the Medical Library, Anatomy &amp; Research Hall and Clinical Sciences Hall.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5FB8D8"/>
                </a:solidFill>
              </a:rPr>
              <a:t>▪ </a:t>
            </a:r>
            <a:r>
              <a:rPr sz="1400" b="1">
                <a:solidFill>
                  <a:srgbClr val="1B2A3A"/>
                </a:solidFill>
              </a:rPr>
              <a:t>Cost: </a:t>
            </a:r>
            <a:r>
              <a:rPr sz="1400" b="1">
                <a:solidFill>
                  <a:srgbClr val="6EC08A"/>
                </a:solidFill>
              </a:rPr>
              <a:t>FREE — required by the project; does not count against the $10M budget.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5FB8D8"/>
                </a:solidFill>
              </a:rPr>
              <a:t>▪ </a:t>
            </a:r>
            <a:r>
              <a:rPr sz="1400" b="0">
                <a:solidFill>
                  <a:srgbClr val="1B2A3A"/>
                </a:solidFill>
              </a:rPr>
              <a:t>Everything else in town is planned around it </a:t>
            </a:r>
            <a:r>
              <a:rPr sz="1400" b="0">
                <a:solidFill>
                  <a:srgbClr val="1B2A3A"/>
                </a:solidFill>
              </a:rPr>
              <a:t>— the town literally grows south and east from the campus.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5F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FB8D8"/>
                </a:solidFill>
                <a:latin typeface="Calibri"/>
              </a:rPr>
              <a:t>CONTENT 6 OF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4F8FB"/>
                </a:solidFill>
                <a:latin typeface="Calibri"/>
              </a:rPr>
              <a:t>The Housing District — FREE (Required)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274320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8C87A"/>
                </a:solidFill>
                <a:latin typeface="Calibri"/>
              </a:rPr>
              <a:t>HAVENBROOK</a:t>
            </a:r>
          </a:p>
        </p:txBody>
      </p:sp>
      <p:pic>
        <p:nvPicPr>
          <p:cNvPr id="8" name="Picture 7" descr="housin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7223760" cy="40633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0100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5FB8D8"/>
                </a:solidFill>
              </a:rPr>
              <a:t>▪ </a:t>
            </a:r>
            <a:r>
              <a:rPr sz="1700" b="1">
                <a:solidFill>
                  <a:srgbClr val="1B2A3A"/>
                </a:solidFill>
              </a:rPr>
              <a:t>The Preserve at Havenbrook</a:t>
            </a:r>
            <a:r>
              <a:rPr sz="1400" b="0">
                <a:solidFill>
                  <a:srgbClr val="1B2A3A"/>
                </a:solidFill>
              </a:rPr>
              <a:t> — site #2 on the map, filling Residential West.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5FB8D8"/>
                </a:solidFill>
              </a:rPr>
              <a:t>▪ </a:t>
            </a:r>
            <a:r>
              <a:rPr sz="1400" b="1">
                <a:solidFill>
                  <a:srgbClr val="1B2A3A"/>
                </a:solidFill>
              </a:rPr>
              <a:t>Preserve Commons Apartments</a:t>
            </a:r>
            <a:r>
              <a:rPr sz="1400" b="0">
                <a:solidFill>
                  <a:srgbClr val="1B2A3A"/>
                </a:solidFill>
              </a:rPr>
              <a:t> — twin 5-storey landmark blocks around a paved resident courtyard, the district’s anchor.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5FB8D8"/>
                </a:solidFill>
              </a:rPr>
              <a:t>▪ </a:t>
            </a:r>
            <a:r>
              <a:rPr sz="1400" b="1">
                <a:solidFill>
                  <a:srgbClr val="1B2A3A"/>
                </a:solidFill>
              </a:rPr>
              <a:t>Cottage rows, duplexes and townhouses</a:t>
            </a:r>
            <a:r>
              <a:rPr sz="1400" b="0">
                <a:solidFill>
                  <a:srgbClr val="1B2A3A"/>
                </a:solidFill>
              </a:rPr>
              <a:t> spread the population mix through the district — student apartments nearest campus, family homes by the school, senior cottages by the park.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5FB8D8"/>
                </a:solidFill>
              </a:rPr>
              <a:t>▪ </a:t>
            </a:r>
            <a:r>
              <a:rPr sz="1400" b="1">
                <a:solidFill>
                  <a:srgbClr val="1B2A3A"/>
                </a:solidFill>
              </a:rPr>
              <a:t>Cost: </a:t>
            </a:r>
            <a:r>
              <a:rPr sz="1400" b="1">
                <a:solidFill>
                  <a:srgbClr val="6EC08A"/>
                </a:solidFill>
              </a:rPr>
              <a:t>FREE — required housing development; does not count against the $10M budget.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5FB8D8"/>
                </a:solidFill>
              </a:rPr>
              <a:t>▪ </a:t>
            </a:r>
            <a:r>
              <a:rPr sz="1400" b="1">
                <a:solidFill>
                  <a:srgbClr val="1B2A3A"/>
                </a:solidFill>
              </a:rPr>
              <a:t>5-minute walk</a:t>
            </a:r>
            <a:r>
              <a:rPr sz="1400" b="0">
                <a:solidFill>
                  <a:srgbClr val="1B2A3A"/>
                </a:solidFill>
              </a:rPr>
              <a:t> to the school district and Willow Creek Park — housing was placed around daily life, not leftover land.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5F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FB8D8"/>
                </a:solidFill>
                <a:latin typeface="Calibri"/>
              </a:rPr>
              <a:t>CONTENT 7 OF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4F8FB"/>
                </a:solidFill>
                <a:latin typeface="Calibri"/>
              </a:rPr>
              <a:t>Healthcare Facilities (1 of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274320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8C87A"/>
                </a:solidFill>
                <a:latin typeface="Calibri"/>
              </a:rPr>
              <a:t>HAVENBROOK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80160"/>
          <a:ext cx="112014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4663440"/>
                <a:gridCol w="4114800"/>
                <a:gridCol w="1920240"/>
              </a:tblGrid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4F8FB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4F8FB"/>
                          </a:solidFill>
                        </a:rPr>
                        <a:t>FACILITY NAME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4F8FB"/>
                          </a:solidFill>
                        </a:rPr>
                        <a:t>TYPE (price-sheet category)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4F8FB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Havenbrook General Hospital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General Hospital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$1,500,000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RapidResponse EMS Station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Emergency Care Services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$400,000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Havenbrook County Health Department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Health Department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$250,000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Precision Diagnostics Laboratory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Laboratory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$100,000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Recovery Path Rehabilitation Center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Rehabilitation Center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$750,000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Mindwell Behavioral Health Center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Mental Health Facility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$500,000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CampusCare Student Health Clinic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Clinic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$200,000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5F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FB8D8"/>
                </a:solidFill>
                <a:latin typeface="Calibri"/>
              </a:rPr>
              <a:t>CONTENT 8 OF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4F8FB"/>
                </a:solidFill>
                <a:latin typeface="Calibri"/>
              </a:rPr>
              <a:t>Healthcare Facilities (2 of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274320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8C87A"/>
                </a:solidFill>
                <a:latin typeface="Calibri"/>
              </a:rPr>
              <a:t>HAVENBROOK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80160"/>
          <a:ext cx="112014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4663440"/>
                <a:gridCol w="4114800"/>
                <a:gridCol w="1920240"/>
              </a:tblGrid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4F8FB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4F8FB"/>
                          </a:solidFill>
                        </a:rPr>
                        <a:t>FACILITY NAME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4F8FB"/>
                          </a:solidFill>
                        </a:rPr>
                        <a:t>TYPE (price-sheet category)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4F8FB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Bright Smile Dental Studio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Dental Office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$300,000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ClearView Optical Center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Optical Center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$300,000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FamilyFirst Medical Offices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Medical Office — Pediatrics &amp; Family Medicine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$400,000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ComfortCare Home Health Services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Home Health Care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$300,000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Silver Oaks Senior Living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Assisted Living &amp; Memory Care LTCF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$750,000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Tranquil Harbor Hospice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Hospice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$500,000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CBC"/>
                </a:solidFill>
                <a:latin typeface="Calibri"/>
              </a:rPr>
              <a:t>13 healthcare facilities — far beyond the 7 required — subtotal $6,250,000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5F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FB8D8"/>
                </a:solidFill>
                <a:latin typeface="Calibri"/>
              </a:rPr>
              <a:t>CONTENT 9 OF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4F8FB"/>
                </a:solidFill>
                <a:latin typeface="Calibri"/>
              </a:rPr>
              <a:t>Why These Facilities Are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274320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8C87A"/>
                </a:solidFill>
                <a:latin typeface="Calibri"/>
              </a:rPr>
              <a:t>HAVENBROOK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5FB8D8"/>
                </a:solidFill>
              </a:rPr>
              <a:t>▪ </a:t>
            </a:r>
            <a:r>
              <a:rPr sz="1500" b="1">
                <a:solidFill>
                  <a:srgbClr val="5FB8D8"/>
                </a:solidFill>
              </a:rPr>
              <a:t>Students (50%): </a:t>
            </a:r>
            <a:r>
              <a:rPr sz="1500" b="0">
                <a:solidFill>
                  <a:srgbClr val="1B2A3A"/>
                </a:solidFill>
              </a:rPr>
              <a:t>CampusCare Clinic for low-cost urgent care, Mindwell for counseling — both within the campus walk-shed, plus dental/optical on the commercial corridor.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5FB8D8"/>
                </a:solidFill>
              </a:rPr>
              <a:t>▪ </a:t>
            </a:r>
            <a:r>
              <a:rPr sz="1500" b="1">
                <a:solidFill>
                  <a:srgbClr val="6EC08A"/>
                </a:solidFill>
              </a:rPr>
              <a:t>Families (30%): </a:t>
            </a:r>
            <a:r>
              <a:rPr sz="1500" b="0">
                <a:solidFill>
                  <a:srgbClr val="1B2A3A"/>
                </a:solidFill>
              </a:rPr>
              <a:t>FamilyFirst pediatrics beside the school district, the General Hospital ER one arterial away, and the Health Department running immunization programs.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5FB8D8"/>
                </a:solidFill>
              </a:rPr>
              <a:t>▪ </a:t>
            </a:r>
            <a:r>
              <a:rPr sz="1500" b="1">
                <a:solidFill>
                  <a:srgbClr val="E8C87A"/>
                </a:solidFill>
              </a:rPr>
              <a:t>Seniors (20%): </a:t>
            </a:r>
            <a:r>
              <a:rPr sz="1500" b="0">
                <a:solidFill>
                  <a:srgbClr val="1B2A3A"/>
                </a:solidFill>
              </a:rPr>
              <a:t>Silver Oaks assisted living + memory care, Tranquil Harbor Hospice, ComfortCare home visits, and Recovery Path rehab — a full ageing-in-place loop on the quiet east side.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5FB8D8"/>
                </a:solidFill>
              </a:rPr>
              <a:t>▪ </a:t>
            </a:r>
            <a:r>
              <a:rPr sz="1500" b="1">
                <a:solidFill>
                  <a:srgbClr val="1B2A3A"/>
                </a:solidFill>
              </a:rPr>
              <a:t>Everyone: </a:t>
            </a:r>
            <a:r>
              <a:rPr sz="1500" b="0">
                <a:solidFill>
                  <a:srgbClr val="1B2A3A"/>
                </a:solidFill>
              </a:rPr>
              <a:t>RapidResponse EMS sits at the town's central junction; Precision Diagnostics handles labs beside the hospital; the County Health Department covers public-health services.</a:t>
            </a:r>
          </a:p>
        </p:txBody>
      </p:sp>
      <p:pic>
        <p:nvPicPr>
          <p:cNvPr id="9" name="Picture 8" descr="camp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325880"/>
            <a:ext cx="5349240" cy="30089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46520" y="4526280"/>
            <a:ext cx="5349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AACBC"/>
                </a:solidFill>
                <a:latin typeface="Calibri"/>
              </a:rPr>
              <a:t>University District — medical school (#1), CampusCare (#9) and Mindwell (#8) on the campus edge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5F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FB8D8"/>
                </a:solidFill>
                <a:latin typeface="Calibri"/>
              </a:rPr>
              <a:t>CONTENT 10 OF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4F8FB"/>
                </a:solidFill>
                <a:latin typeface="Calibri"/>
              </a:rPr>
              <a:t>Location &amp; Placement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274320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8C87A"/>
                </a:solidFill>
                <a:latin typeface="Calibri"/>
              </a:rPr>
              <a:t>HAVENBROOK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5FB8D8"/>
                </a:solidFill>
              </a:rPr>
              <a:t>▪ </a:t>
            </a:r>
            <a:r>
              <a:rPr sz="1500" b="1">
                <a:solidFill>
                  <a:srgbClr val="1B2A3A"/>
                </a:solidFill>
              </a:rPr>
              <a:t>Hospital + EMS + rehab + lab cluster on Wellness Way</a:t>
            </a:r>
            <a:r>
              <a:rPr sz="1500" b="0">
                <a:solidFill>
                  <a:srgbClr val="1B2A3A"/>
                </a:solidFill>
              </a:rPr>
              <a:t> — one "care spine" so ambulances move between them without crossing town.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5FB8D8"/>
                </a:solidFill>
              </a:rPr>
              <a:t>▪ </a:t>
            </a:r>
            <a:r>
              <a:rPr sz="1500" b="1">
                <a:solidFill>
                  <a:srgbClr val="1B2A3A"/>
                </a:solidFill>
              </a:rPr>
              <a:t>EMS at the Midtown/Main junction</a:t>
            </a:r>
            <a:r>
              <a:rPr sz="1500" b="0">
                <a:solidFill>
                  <a:srgbClr val="1B2A3A"/>
                </a:solidFill>
              </a:rPr>
              <a:t> — geometric center; every district reachable along arterials in minutes.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5FB8D8"/>
                </a:solidFill>
              </a:rPr>
              <a:t>▪ </a:t>
            </a:r>
            <a:r>
              <a:rPr sz="1500" b="1">
                <a:solidFill>
                  <a:srgbClr val="1B2A3A"/>
                </a:solidFill>
              </a:rPr>
              <a:t>Senior district (E) borders the park</a:t>
            </a:r>
            <a:r>
              <a:rPr sz="1500" b="0">
                <a:solidFill>
                  <a:srgbClr val="1B2A3A"/>
                </a:solidFill>
              </a:rPr>
              <a:t> — Silver Oaks and the hospice sit on quiet Silver Oak Dr beside Willow Creek's paths and pond.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5FB8D8"/>
                </a:solidFill>
              </a:rPr>
              <a:t>▪ </a:t>
            </a:r>
            <a:r>
              <a:rPr sz="1500" b="1">
                <a:solidFill>
                  <a:srgbClr val="1B2A3A"/>
                </a:solidFill>
              </a:rPr>
              <a:t>Medical school NW at Campus Dr</a:t>
            </a:r>
            <a:r>
              <a:rPr sz="1500" b="0">
                <a:solidFill>
                  <a:srgbClr val="1B2A3A"/>
                </a:solidFill>
              </a:rPr>
              <a:t> — the town literally grows south and east from the campus quad.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5FB8D8"/>
                </a:solidFill>
              </a:rPr>
              <a:t>▪ </a:t>
            </a:r>
            <a:r>
              <a:rPr sz="1500" b="1">
                <a:solidFill>
                  <a:srgbClr val="1B2A3A"/>
                </a:solidFill>
              </a:rPr>
              <a:t>Housing in Residential West</a:t>
            </a:r>
            <a:r>
              <a:rPr sz="1500" b="0">
                <a:solidFill>
                  <a:srgbClr val="1B2A3A"/>
                </a:solidFill>
              </a:rPr>
              <a:t> — Preserve Commons Apartments anchor the district; school and park both within a 5-minute walk.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5FB8D8"/>
                </a:solidFill>
              </a:rPr>
              <a:t>▪ </a:t>
            </a:r>
            <a:r>
              <a:rPr sz="1500" b="1">
                <a:solidFill>
                  <a:srgbClr val="1B2A3A"/>
                </a:solidFill>
              </a:rPr>
              <a:t>Commercial on Commerce Blvd (S)</a:t>
            </a:r>
            <a:r>
              <a:rPr sz="1500" b="0">
                <a:solidFill>
                  <a:srgbClr val="1B2A3A"/>
                </a:solidFill>
              </a:rPr>
              <a:t> — Target, mall, grocery and restaurants concentrate traffic on the south arterial instead of residential streets.</a:t>
            </a:r>
          </a:p>
        </p:txBody>
      </p:sp>
      <p:pic>
        <p:nvPicPr>
          <p:cNvPr id="9" name="Picture 8" descr="commer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325880"/>
            <a:ext cx="5349240" cy="30089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46520" y="4526280"/>
            <a:ext cx="5349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AACBC"/>
                </a:solidFill>
                <a:latin typeface="Calibri"/>
              </a:rPr>
              <a:t>Commercial corridor — Target (#16), mall (#17), grocery (#24), Fiesta Express (#26)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5F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FB8D8"/>
                </a:solidFill>
                <a:latin typeface="Calibri"/>
              </a:rPr>
              <a:t>CONTENT 11 OF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4F8FB"/>
                </a:solidFill>
                <a:latin typeface="Calibri"/>
              </a:rPr>
              <a:t>Community Locations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274320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8C87A"/>
                </a:solidFill>
                <a:latin typeface="Calibri"/>
              </a:rPr>
              <a:t>HAVENBROOK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80160"/>
          <a:ext cx="1120140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4663440"/>
                <a:gridCol w="4114800"/>
                <a:gridCol w="1920240"/>
              </a:tblGrid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4F8FB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4F8FB"/>
                          </a:solidFill>
                        </a:rPr>
                        <a:t>FACILITY NAME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4F8FB"/>
                          </a:solidFill>
                        </a:rPr>
                        <a:t>TYPE (price-sheet category)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4F8FB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Target — Havenbrook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Wal-Mart/Target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$500,000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Havenbrook Commons Mall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Mall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$1,000,000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VitalCare Pharmacy &amp; Wellness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Other Retail — pharmacy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$500,000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Havenbrook Discovery Museum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Museum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$500,000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Havenbrook Unified School District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School System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$300,000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The Orchard Table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Restaurant — farm-to-table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$250,000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Willow Creek Park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Park/Playground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$200,000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Havenbrook Post Office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Post Office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$150,000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Harvest Lane Grocery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Grocery Store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$100,000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The Daily Grind Coffeehouse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Coffee Shop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$100,000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Fiesta Express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Fast Food — Mexican grill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</a:rPr>
                        <a:t>$100,000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CBC"/>
                </a:solidFill>
                <a:latin typeface="Calibri"/>
              </a:rPr>
              <a:t>11 community locations — more than 3× the requirement — subtotal $3,700,000. Plus free amenities: pocket parks, groves, orchard pond, band shell, library.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5F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FB8D8"/>
                </a:solidFill>
                <a:latin typeface="Calibri"/>
              </a:rPr>
              <a:t>CONTENT 12 OF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4F8FB"/>
                </a:solidFill>
                <a:latin typeface="Calibri"/>
              </a:rPr>
              <a:t>Budget — $9,950,000 of $10,000,000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274320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8C87A"/>
                </a:solidFill>
                <a:latin typeface="Calibri"/>
              </a:rPr>
              <a:t>HAVENBROOK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201399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937760"/>
                <a:gridCol w="3977639"/>
                <a:gridCol w="1828800"/>
              </a:tblGrid>
              <a:tr h="17657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4F8FB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4F8FB"/>
                          </a:solidFill>
                        </a:rPr>
                        <a:t>FACILITY / LOCATION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4F8FB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4F8FB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</a:tr>
              <a:tr h="176573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EC08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EC08A"/>
                          </a:solidFill>
                        </a:rPr>
                        <a:t>Havenbrook University School of Medicine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EC08A"/>
                          </a:solidFill>
                        </a:rPr>
                        <a:t>University Medical School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6EC08A"/>
                          </a:solidFill>
                        </a:rPr>
                        <a:t>FREE (required)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176573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EC08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EC08A"/>
                          </a:solidFill>
                        </a:rPr>
                        <a:t>The Preserve at Havenbrook (incl. Preserve Commons Apartments)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EC08A"/>
                          </a:solidFill>
                        </a:rPr>
                        <a:t>Housing Development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6EC08A"/>
                          </a:solidFill>
                        </a:rPr>
                        <a:t>FREE (required)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17657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Havenbrook General Hospital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General Hospital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$1,500,000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17657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RapidResponse EMS Station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Emergency Care Services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$400,000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17657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Havenbrook County Health Department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Health Department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$250,000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17657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Precision Diagnostics Laboratory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Laboratory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$100,000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17657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Recovery Path Rehabilitation Center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Rehabilitation Center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$750,000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17657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Mindwell Behavioral Health Center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Mental Health Facility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$500,000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17657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CampusCare Student Health Clinic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Clinic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$200,000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17657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Bright Smile Dental Studio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Dental Office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$300,000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17657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ClearView Optical Center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Optical Center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$300,000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17657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FamilyFirst Medical Offices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Medical Office — Pediatrics &amp; Family Medicine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$400,000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17657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ComfortCare Home Health Services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Home Health Care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$300,000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17657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Silver Oaks Senior Living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Assisted Living &amp; Memory Care LTCF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$750,000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17657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Tranquil Harbor Hospice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Hospice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$500,000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17657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Target — Havenbrook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Wal-Mart/Target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$500,000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17657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Havenbrook Commons Mall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Mall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$1,000,000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17657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VitalCare Pharmacy &amp; Wellness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Other Retail — pharmacy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$500,000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17657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Havenbrook Discovery Museum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Museum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$500,000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17657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Havenbrook Unified School District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School System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$300,000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17657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The Orchard Table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Restaurant — farm-to-table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$250,000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17657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Willow Creek Park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Park/Playground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$200,000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17657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Havenbrook Post Office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Post Office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$150,000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17657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Harvest Lane Grocery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Grocery Store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$100,000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17657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The Daily Grind Coffeehouse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Coffee Shop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$100,000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17657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Fiesta Express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Fast Food — Mexican grill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B2A3A"/>
                          </a:solidFill>
                        </a:rPr>
                        <a:t>$100,000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176573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4F8FB"/>
                          </a:solidFill>
                        </a:rPr>
                        <a:t>TOTAL SPENT</a:t>
                      </a:r>
                    </a:p>
                  </a:txBody>
                  <a:tcPr>
                    <a:solidFill>
                      <a:srgbClr val="14284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4F8FB"/>
                          </a:solidFill>
                        </a:rPr>
                        <a:t>$9,950,000</a:t>
                      </a:r>
                    </a:p>
                  </a:txBody>
                  <a:tcPr>
                    <a:solidFill>
                      <a:srgbClr val="142840"/>
                    </a:solidFill>
                  </a:tcPr>
                </a:tc>
              </a:tr>
              <a:tr h="176596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A2B"/>
                          </a:solidFill>
                        </a:rPr>
                        <a:t>REMAINING</a:t>
                      </a:r>
                    </a:p>
                  </a:txBody>
                  <a:tcPr>
                    <a:solidFill>
                      <a:srgbClr val="6EC08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1A2B"/>
                          </a:solidFill>
                        </a:rPr>
                        <a:t>$50,000</a:t>
                      </a:r>
                    </a:p>
                  </a:txBody>
                  <a:tcPr>
                    <a:solidFill>
                      <a:srgbClr val="6EC08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5F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FB8D8"/>
                </a:solidFill>
                <a:latin typeface="Calibri"/>
              </a:rPr>
              <a:t>CONTENT 13 OF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4F8FB"/>
                </a:solidFill>
                <a:latin typeface="Calibri"/>
              </a:rPr>
              <a:t>Decision-Making &amp;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274320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8C87A"/>
                </a:solidFill>
                <a:latin typeface="Calibri"/>
              </a:rPr>
              <a:t>HAVENBROOK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50" b="1">
                <a:solidFill>
                  <a:srgbClr val="5FB8D8"/>
                </a:solidFill>
              </a:rPr>
              <a:t>▪ </a:t>
            </a:r>
            <a:r>
              <a:rPr sz="1550" b="1">
                <a:solidFill>
                  <a:srgbClr val="1B2A3A"/>
                </a:solidFill>
              </a:rPr>
              <a:t>Biggest spend: the hospital ($1.5M). </a:t>
            </a:r>
            <a:r>
              <a:rPr sz="1550" b="0">
                <a:solidFill>
                  <a:srgbClr val="1B2A3A"/>
                </a:solidFill>
              </a:rPr>
              <a:t>A general hospital was non-negotiable for a medical-university town — it anchors the whole care system.</a:t>
            </a:r>
          </a:p>
          <a:p>
            <a:pPr>
              <a:spcAft>
                <a:spcPts val="1400"/>
              </a:spcAft>
            </a:pPr>
            <a:r>
              <a:rPr sz="1550" b="1">
                <a:solidFill>
                  <a:srgbClr val="5FB8D8"/>
                </a:solidFill>
              </a:rPr>
              <a:t>▪ </a:t>
            </a:r>
            <a:r>
              <a:rPr sz="1550" b="1">
                <a:solidFill>
                  <a:srgbClr val="1B2A3A"/>
                </a:solidFill>
              </a:rPr>
              <a:t>Mall over a second hospital. </a:t>
            </a:r>
            <a:r>
              <a:rPr sz="1550" b="0">
                <a:solidFill>
                  <a:srgbClr val="1B2A3A"/>
                </a:solidFill>
              </a:rPr>
              <a:t>With $1.45M left near the end we weighed a Specialty Hospital ($1.25M) vs. Havenbrook Commons Mall ($1M) — the mall won because residents rated everyday needs (retail, food, gathering) as the bigger gap; the general hospital already covers specialty referrals.</a:t>
            </a:r>
          </a:p>
          <a:p>
            <a:pPr>
              <a:spcAft>
                <a:spcPts val="1400"/>
              </a:spcAft>
            </a:pPr>
            <a:r>
              <a:rPr sz="1550" b="1">
                <a:solidFill>
                  <a:srgbClr val="5FB8D8"/>
                </a:solidFill>
              </a:rPr>
              <a:t>▪ </a:t>
            </a:r>
            <a:r>
              <a:rPr sz="1550" b="1">
                <a:solidFill>
                  <a:srgbClr val="1B2A3A"/>
                </a:solidFill>
              </a:rPr>
              <a:t>Two cheap clinics instead of one pricey one. </a:t>
            </a:r>
            <a:r>
              <a:rPr sz="1550" b="0">
                <a:solidFill>
                  <a:srgbClr val="1B2A3A"/>
                </a:solidFill>
              </a:rPr>
              <a:t>CampusCare ($200k) + ComfortCare ($300k) reach students and seniors for less than one Specialty Hospital.</a:t>
            </a:r>
          </a:p>
          <a:p>
            <a:pPr>
              <a:spcAft>
                <a:spcPts val="1400"/>
              </a:spcAft>
            </a:pPr>
            <a:r>
              <a:rPr sz="1550" b="1">
                <a:solidFill>
                  <a:srgbClr val="5FB8D8"/>
                </a:solidFill>
              </a:rPr>
              <a:t>▪ </a:t>
            </a:r>
            <a:r>
              <a:rPr sz="1550" b="1">
                <a:solidFill>
                  <a:srgbClr val="1B2A3A"/>
                </a:solidFill>
              </a:rPr>
              <a:t>What we could NOT afford: </a:t>
            </a:r>
            <a:r>
              <a:rPr sz="1550" b="0">
                <a:solidFill>
                  <a:srgbClr val="1B2A3A"/>
                </a:solidFill>
              </a:rPr>
              <a:t>a Government Hospital, a University Medical Center ($2M — the free medical school already covers teaching-care), a Skilled Nursing LTCF (Silver Oaks + ComfortCare split the need), and Industrial Health Care (little industry in Havenbrook).</a:t>
            </a:r>
          </a:p>
          <a:p>
            <a:pPr>
              <a:spcAft>
                <a:spcPts val="1400"/>
              </a:spcAft>
            </a:pPr>
            <a:r>
              <a:rPr sz="1550" b="1">
                <a:solidFill>
                  <a:srgbClr val="5FB8D8"/>
                </a:solidFill>
              </a:rPr>
              <a:t>▪ </a:t>
            </a:r>
            <a:r>
              <a:rPr sz="1550" b="1">
                <a:solidFill>
                  <a:srgbClr val="1B2A3A"/>
                </a:solidFill>
              </a:rPr>
              <a:t>Leftover $50,000 </a:t>
            </a:r>
            <a:r>
              <a:rPr sz="1550" b="0">
                <a:solidFill>
                  <a:srgbClr val="1B2A3A"/>
                </a:solidFill>
              </a:rPr>
              <a:t>is deliberately kept as a maintenance/emergency cushion — real towns don't spend to zero.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5F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FB8D8"/>
                </a:solidFill>
                <a:latin typeface="Calibri"/>
              </a:rPr>
              <a:t>CONTENT 14 OF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4F8FB"/>
                </a:solidFill>
                <a:latin typeface="Calibri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274320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8C87A"/>
                </a:solidFill>
                <a:latin typeface="Calibri"/>
              </a:rPr>
              <a:t>HAVENBROOK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5FB8D8"/>
                </a:solidFill>
              </a:rPr>
              <a:t>▪ </a:t>
            </a:r>
            <a:r>
              <a:rPr sz="1600" b="1">
                <a:solidFill>
                  <a:srgbClr val="1B2A3A"/>
                </a:solidFill>
              </a:rPr>
              <a:t>Havenbrook meets every requirement: </a:t>
            </a:r>
            <a:r>
              <a:rPr sz="1600" b="0">
                <a:solidFill>
                  <a:srgbClr val="1B2A3A"/>
                </a:solidFill>
              </a:rPr>
              <a:t>27 named locations, 13 healthcare facilities, 11 community locations, a free medical school and free housing — all inside a $9.95M budget.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5FB8D8"/>
                </a:solidFill>
              </a:rPr>
              <a:t>▪ </a:t>
            </a:r>
            <a:r>
              <a:rPr sz="1600" b="1">
                <a:solidFill>
                  <a:srgbClr val="1B2A3A"/>
                </a:solidFill>
              </a:rPr>
              <a:t>Demographics drive the design: </a:t>
            </a:r>
            <a:r>
              <a:rPr sz="1600" b="0">
                <a:solidFill>
                  <a:srgbClr val="1B2A3A"/>
                </a:solidFill>
              </a:rPr>
              <a:t>students, families and seniors each get facilities on their daily routes, not across town.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5FB8D8"/>
                </a:solidFill>
              </a:rPr>
              <a:t>▪ </a:t>
            </a:r>
            <a:r>
              <a:rPr sz="1600" b="1">
                <a:solidFill>
                  <a:srgbClr val="1B2A3A"/>
                </a:solidFill>
              </a:rPr>
              <a:t>The town is explorable: </a:t>
            </a:r>
            <a:r>
              <a:rPr sz="1600" b="0">
                <a:solidFill>
                  <a:srgbClr val="1B2A3A"/>
                </a:solidFill>
              </a:rPr>
              <a:t>the full 3D model (github repo: Digital-Town) supports a guided tour, day/night cycle, weather, and a labeled map — the same model these screenshots come from.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5FB8D8"/>
                </a:solidFill>
              </a:rPr>
              <a:t>▪ </a:t>
            </a:r>
            <a:r>
              <a:rPr sz="1600" b="1">
                <a:solidFill>
                  <a:srgbClr val="5FB8D8"/>
                </a:solidFill>
              </a:rPr>
              <a:t>A community planned around care </a:t>
            </a:r>
            <a:r>
              <a:rPr sz="1600" b="0">
                <a:solidFill>
                  <a:srgbClr val="1B2A3A"/>
                </a:solidFill>
              </a:rPr>
              <a:t>— healthcare is the spine, but parks, shops, schools and cafes make it a town people actually live in.</a:t>
            </a:r>
          </a:p>
        </p:txBody>
      </p:sp>
      <p:pic>
        <p:nvPicPr>
          <p:cNvPr id="9" name="Picture 8" descr="str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371600"/>
            <a:ext cx="5349240" cy="30089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46520" y="4526280"/>
            <a:ext cx="5349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AACBC"/>
                </a:solidFill>
                <a:latin typeface="Calibri"/>
              </a:rPr>
              <a:t>Main Street at eye level — storefront row, dental (#10), optical (#11), café (#25)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5F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FB8D8"/>
                </a:solidFill>
                <a:latin typeface="Calibri"/>
              </a:rPr>
              <a:t>NOT A CONTENT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4F8FB"/>
                </a:solidFill>
                <a:latin typeface="Calibri"/>
              </a:rPr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274320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8C87A"/>
                </a:solidFill>
                <a:latin typeface="Calibri"/>
              </a:rPr>
              <a:t>HAVENBROOK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>
                <a:solidFill>
                  <a:srgbClr val="5FB8D8"/>
                </a:solidFill>
              </a:rPr>
              <a:t>▪ </a:t>
            </a:r>
            <a:r>
              <a:rPr sz="1500" b="1">
                <a:solidFill>
                  <a:srgbClr val="1B2A3A"/>
                </a:solidFill>
              </a:rPr>
              <a:t>Town model, layout, budget tracker and all screenshots: </a:t>
            </a:r>
            <a:r>
              <a:rPr sz="1500" b="0">
                <a:solidFill>
                  <a:srgbClr val="1B2A3A"/>
                </a:solidFill>
              </a:rPr>
              <a:t>procedurally generated Havenbrook — github.com/dev-abhinavmishra/Digital-Town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5FB8D8"/>
                </a:solidFill>
              </a:rPr>
              <a:t>▪ </a:t>
            </a:r>
            <a:r>
              <a:rPr sz="1500" b="1">
                <a:solidFill>
                  <a:srgbClr val="1B2A3A"/>
                </a:solidFill>
              </a:rPr>
              <a:t>Healthcare facility types and pricing: </a:t>
            </a:r>
            <a:r>
              <a:rPr sz="1500" b="0">
                <a:solidFill>
                  <a:srgbClr val="1B2A3A"/>
                </a:solidFill>
              </a:rPr>
              <a:t>"Our Town" Healthcare System Project — official price sheet (class handout).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5FB8D8"/>
                </a:solidFill>
              </a:rPr>
              <a:t>▪ </a:t>
            </a:r>
            <a:r>
              <a:rPr sz="1500" b="1">
                <a:solidFill>
                  <a:srgbClr val="1B2A3A"/>
                </a:solidFill>
              </a:rPr>
              <a:t>Town demographics: </a:t>
            </a:r>
            <a:r>
              <a:rPr sz="1500" b="0">
                <a:solidFill>
                  <a:srgbClr val="1B2A3A"/>
                </a:solidFill>
              </a:rPr>
              <a:t>project brief — 50% college students, 30% adults with families, 20% adults 65+.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5FB8D8"/>
                </a:solidFill>
              </a:rPr>
              <a:t>▪ </a:t>
            </a:r>
            <a:r>
              <a:rPr sz="1500" b="1">
                <a:solidFill>
                  <a:srgbClr val="1B2A3A"/>
                </a:solidFill>
              </a:rPr>
              <a:t>Rendering engine: </a:t>
            </a:r>
            <a:r>
              <a:rPr sz="1500" b="0">
                <a:solidFill>
                  <a:srgbClr val="1B2A3A"/>
                </a:solidFill>
              </a:rPr>
              <a:t>Three.js (threejs.org), open-source WebGL library. Landmark assets authored in Blender (blender.org).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5FB8D8"/>
                </a:solidFill>
              </a:rPr>
              <a:t>▪ </a:t>
            </a:r>
            <a:r>
              <a:rPr sz="1500" b="0" i="1">
                <a:solidFill>
                  <a:srgbClr val="9AACBC"/>
                </a:solidFill>
              </a:rPr>
              <a:t>All imagery on these slides was rendered from the actual town model — no stock photos.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